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2918400" cy="21945600"/>
  <p:notesSz cx="7315200" cy="9601200"/>
  <p:defaultTextStyle>
    <a:defPPr>
      <a:defRPr lang="en-US"/>
    </a:defPPr>
    <a:lvl1pPr marL="0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53099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706199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559298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4123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2654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51185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971696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824795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rof. Ghassan AlRegib" initials="Ghassan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BF1DE"/>
    <a:srgbClr val="F79646"/>
    <a:srgbClr val="EEC100"/>
    <a:srgbClr val="FFFEE8"/>
    <a:srgbClr val="176939"/>
    <a:srgbClr val="0066FF"/>
    <a:srgbClr val="008000"/>
    <a:srgbClr val="FFCC00"/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6399" autoAdjust="0"/>
    <p:restoredTop sz="92767" autoAdjust="0"/>
  </p:normalViewPr>
  <p:slideViewPr>
    <p:cSldViewPr>
      <p:cViewPr>
        <p:scale>
          <a:sx n="33" d="100"/>
          <a:sy n="33" d="100"/>
        </p:scale>
        <p:origin x="-78" y="942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BF90A-7792-4EE8-9922-DC9746CD6B9F}" type="datetimeFigureOut">
              <a:rPr lang="zh-CN" altLang="en-US" smtClean="0"/>
              <a:pPr/>
              <a:t>2026/5/2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7138" y="1200150"/>
            <a:ext cx="48609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A8F6A-EE81-49D6-864B-87069957DB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1523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A8F6A-EE81-49D6-864B-87069957DBA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9005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5"/>
            <a:ext cx="27980640" cy="47040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530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0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559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12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265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118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971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824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4420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736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1"/>
            <a:ext cx="27980640" cy="4358640"/>
          </a:xfrm>
        </p:spPr>
        <p:txBody>
          <a:bodyPr anchor="t"/>
          <a:lstStyle>
            <a:lvl1pPr algn="l">
              <a:defRPr sz="7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6"/>
            <a:ext cx="27980640" cy="4800597"/>
          </a:xfrm>
        </p:spPr>
        <p:txBody>
          <a:bodyPr anchor="b"/>
          <a:lstStyle>
            <a:lvl1pPr marL="0" indent="0">
              <a:buNone/>
              <a:defRPr sz="3700">
                <a:solidFill>
                  <a:schemeClr val="tx1">
                    <a:tint val="75000"/>
                  </a:schemeClr>
                </a:solidFill>
              </a:defRPr>
            </a:lvl1pPr>
            <a:lvl2pPr marL="853099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2pPr>
            <a:lvl3pPr marL="1706199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3pPr>
            <a:lvl4pPr marL="255929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4pPr>
            <a:lvl5pPr marL="34123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5pPr>
            <a:lvl6pPr marL="42654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6pPr>
            <a:lvl7pPr marL="51185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7pPr>
            <a:lvl8pPr marL="5971696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8pPr>
            <a:lvl9pPr marL="6824795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5993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29251" y="6827522"/>
            <a:ext cx="48611791" cy="19309083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37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89681" y="6827522"/>
            <a:ext cx="48611791" cy="19309083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37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496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878841"/>
            <a:ext cx="29626560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1"/>
            <a:ext cx="14544676" cy="2047239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3099" indent="0">
              <a:buNone/>
              <a:defRPr sz="3700" b="1"/>
            </a:lvl2pPr>
            <a:lvl3pPr marL="1706199" indent="0">
              <a:buNone/>
              <a:defRPr sz="3300" b="1"/>
            </a:lvl3pPr>
            <a:lvl4pPr marL="2559298" indent="0">
              <a:buNone/>
              <a:defRPr sz="3000" b="1"/>
            </a:lvl4pPr>
            <a:lvl5pPr marL="3412397" indent="0">
              <a:buNone/>
              <a:defRPr sz="3000" b="1"/>
            </a:lvl5pPr>
            <a:lvl6pPr marL="4265497" indent="0">
              <a:buNone/>
              <a:defRPr sz="3000" b="1"/>
            </a:lvl6pPr>
            <a:lvl7pPr marL="5118597" indent="0">
              <a:buNone/>
              <a:defRPr sz="3000" b="1"/>
            </a:lvl7pPr>
            <a:lvl8pPr marL="5971696" indent="0">
              <a:buNone/>
              <a:defRPr sz="3000" b="1"/>
            </a:lvl8pPr>
            <a:lvl9pPr marL="6824795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6" cy="12644121"/>
          </a:xfrm>
        </p:spPr>
        <p:txBody>
          <a:bodyPr/>
          <a:lstStyle>
            <a:lvl1pPr>
              <a:defRPr sz="4500"/>
            </a:lvl1pPr>
            <a:lvl2pPr>
              <a:defRPr sz="37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4912361"/>
            <a:ext cx="14550391" cy="2047239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3099" indent="0">
              <a:buNone/>
              <a:defRPr sz="3700" b="1"/>
            </a:lvl2pPr>
            <a:lvl3pPr marL="1706199" indent="0">
              <a:buNone/>
              <a:defRPr sz="3300" b="1"/>
            </a:lvl3pPr>
            <a:lvl4pPr marL="2559298" indent="0">
              <a:buNone/>
              <a:defRPr sz="3000" b="1"/>
            </a:lvl4pPr>
            <a:lvl5pPr marL="3412397" indent="0">
              <a:buNone/>
              <a:defRPr sz="3000" b="1"/>
            </a:lvl5pPr>
            <a:lvl6pPr marL="4265497" indent="0">
              <a:buNone/>
              <a:defRPr sz="3000" b="1"/>
            </a:lvl6pPr>
            <a:lvl7pPr marL="5118597" indent="0">
              <a:buNone/>
              <a:defRPr sz="3000" b="1"/>
            </a:lvl7pPr>
            <a:lvl8pPr marL="5971696" indent="0">
              <a:buNone/>
              <a:defRPr sz="3000" b="1"/>
            </a:lvl8pPr>
            <a:lvl9pPr marL="6824795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6959600"/>
            <a:ext cx="14550391" cy="12644121"/>
          </a:xfrm>
        </p:spPr>
        <p:txBody>
          <a:bodyPr/>
          <a:lstStyle>
            <a:lvl1pPr>
              <a:defRPr sz="4500"/>
            </a:lvl1pPr>
            <a:lvl2pPr>
              <a:defRPr sz="37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747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7495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489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4" y="873761"/>
            <a:ext cx="10829927" cy="3718560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2" y="873763"/>
            <a:ext cx="18402300" cy="18729963"/>
          </a:xfrm>
        </p:spPr>
        <p:txBody>
          <a:bodyPr/>
          <a:lstStyle>
            <a:lvl1pPr>
              <a:defRPr sz="6000"/>
            </a:lvl1pPr>
            <a:lvl2pPr>
              <a:defRPr sz="5200"/>
            </a:lvl2pPr>
            <a:lvl3pPr>
              <a:defRPr sz="45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4" y="4592323"/>
            <a:ext cx="10829927" cy="15011403"/>
          </a:xfrm>
        </p:spPr>
        <p:txBody>
          <a:bodyPr/>
          <a:lstStyle>
            <a:lvl1pPr marL="0" indent="0">
              <a:buNone/>
              <a:defRPr sz="2600"/>
            </a:lvl1pPr>
            <a:lvl2pPr marL="853099" indent="0">
              <a:buNone/>
              <a:defRPr sz="2200"/>
            </a:lvl2pPr>
            <a:lvl3pPr marL="1706199" indent="0">
              <a:buNone/>
              <a:defRPr sz="1900"/>
            </a:lvl3pPr>
            <a:lvl4pPr marL="2559298" indent="0">
              <a:buNone/>
              <a:defRPr sz="1700"/>
            </a:lvl4pPr>
            <a:lvl5pPr marL="3412397" indent="0">
              <a:buNone/>
              <a:defRPr sz="1700"/>
            </a:lvl5pPr>
            <a:lvl6pPr marL="4265497" indent="0">
              <a:buNone/>
              <a:defRPr sz="1700"/>
            </a:lvl6pPr>
            <a:lvl7pPr marL="5118597" indent="0">
              <a:buNone/>
              <a:defRPr sz="1700"/>
            </a:lvl7pPr>
            <a:lvl8pPr marL="5971696" indent="0">
              <a:buNone/>
              <a:defRPr sz="1700"/>
            </a:lvl8pPr>
            <a:lvl9pPr marL="6824795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827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15361922"/>
            <a:ext cx="19751040" cy="1813563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1960879"/>
            <a:ext cx="19751040" cy="13167360"/>
          </a:xfrm>
        </p:spPr>
        <p:txBody>
          <a:bodyPr/>
          <a:lstStyle>
            <a:lvl1pPr marL="0" indent="0">
              <a:buNone/>
              <a:defRPr sz="6000"/>
            </a:lvl1pPr>
            <a:lvl2pPr marL="853099" indent="0">
              <a:buNone/>
              <a:defRPr sz="5200"/>
            </a:lvl2pPr>
            <a:lvl3pPr marL="1706199" indent="0">
              <a:buNone/>
              <a:defRPr sz="4500"/>
            </a:lvl3pPr>
            <a:lvl4pPr marL="2559298" indent="0">
              <a:buNone/>
              <a:defRPr sz="3700"/>
            </a:lvl4pPr>
            <a:lvl5pPr marL="3412397" indent="0">
              <a:buNone/>
              <a:defRPr sz="3700"/>
            </a:lvl5pPr>
            <a:lvl6pPr marL="4265497" indent="0">
              <a:buNone/>
              <a:defRPr sz="3700"/>
            </a:lvl6pPr>
            <a:lvl7pPr marL="5118597" indent="0">
              <a:buNone/>
              <a:defRPr sz="3700"/>
            </a:lvl7pPr>
            <a:lvl8pPr marL="5971696" indent="0">
              <a:buNone/>
              <a:defRPr sz="3700"/>
            </a:lvl8pPr>
            <a:lvl9pPr marL="6824795" indent="0">
              <a:buNone/>
              <a:defRPr sz="3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17175485"/>
            <a:ext cx="19751040" cy="2575557"/>
          </a:xfrm>
        </p:spPr>
        <p:txBody>
          <a:bodyPr/>
          <a:lstStyle>
            <a:lvl1pPr marL="0" indent="0">
              <a:buNone/>
              <a:defRPr sz="2600"/>
            </a:lvl1pPr>
            <a:lvl2pPr marL="853099" indent="0">
              <a:buNone/>
              <a:defRPr sz="2200"/>
            </a:lvl2pPr>
            <a:lvl3pPr marL="1706199" indent="0">
              <a:buNone/>
              <a:defRPr sz="1900"/>
            </a:lvl3pPr>
            <a:lvl4pPr marL="2559298" indent="0">
              <a:buNone/>
              <a:defRPr sz="1700"/>
            </a:lvl4pPr>
            <a:lvl5pPr marL="3412397" indent="0">
              <a:buNone/>
              <a:defRPr sz="1700"/>
            </a:lvl5pPr>
            <a:lvl6pPr marL="4265497" indent="0">
              <a:buNone/>
              <a:defRPr sz="1700"/>
            </a:lvl6pPr>
            <a:lvl7pPr marL="5118597" indent="0">
              <a:buNone/>
              <a:defRPr sz="1700"/>
            </a:lvl7pPr>
            <a:lvl8pPr marL="5971696" indent="0">
              <a:buNone/>
              <a:defRPr sz="1700"/>
            </a:lvl8pPr>
            <a:lvl9pPr marL="6824795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986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3819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758419" y="1173483"/>
            <a:ext cx="24443053" cy="249631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29253" y="1173483"/>
            <a:ext cx="72780527" cy="249631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184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878841"/>
            <a:ext cx="29626560" cy="3657600"/>
          </a:xfrm>
          <a:prstGeom prst="rect">
            <a:avLst/>
          </a:prstGeom>
        </p:spPr>
        <p:txBody>
          <a:bodyPr vert="horz" lIns="170620" tIns="85310" rIns="170620" bIns="8531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5120644"/>
            <a:ext cx="29626560" cy="14483081"/>
          </a:xfrm>
          <a:prstGeom prst="rect">
            <a:avLst/>
          </a:prstGeom>
        </p:spPr>
        <p:txBody>
          <a:bodyPr vert="horz" lIns="170620" tIns="85310" rIns="170620" bIns="8531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0323"/>
            <a:ext cx="76809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l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62AB-FE4A-4ABB-8804-6EC714CDCB09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20340323"/>
            <a:ext cx="104241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ct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20340323"/>
            <a:ext cx="76809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585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06199" rtl="0" eaLnBrk="1" latinLnBrk="0" hangingPunct="1">
        <a:spcBef>
          <a:spcPct val="0"/>
        </a:spcBef>
        <a:buNone/>
        <a:defRPr sz="8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9825" indent="-639825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1pPr>
      <a:lvl2pPr marL="1386286" indent="-533187" algn="l" defTabSz="1706199" rtl="0" eaLnBrk="1" latinLnBrk="0" hangingPunct="1">
        <a:spcBef>
          <a:spcPct val="20000"/>
        </a:spcBef>
        <a:buFont typeface="Arial" panose="020B0604020202020204" pitchFamily="34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2pPr>
      <a:lvl3pPr marL="21327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29858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4pPr>
      <a:lvl5pPr marL="38389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»"/>
        <a:defRPr sz="3700" kern="1200">
          <a:solidFill>
            <a:schemeClr val="tx1"/>
          </a:solidFill>
          <a:latin typeface="+mn-lt"/>
          <a:ea typeface="+mn-ea"/>
          <a:cs typeface="+mn-cs"/>
        </a:defRPr>
      </a:lvl5pPr>
      <a:lvl6pPr marL="4692047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6pPr>
      <a:lvl7pPr marL="5545146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7pPr>
      <a:lvl8pPr marL="6398246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8pPr>
      <a:lvl9pPr marL="7251345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853099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706199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3pPr>
      <a:lvl4pPr marL="2559298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4123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2654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51185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971696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824795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/>
        </p:nvSpPr>
        <p:spPr>
          <a:xfrm>
            <a:off x="282305" y="4008169"/>
            <a:ext cx="10639425" cy="563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Introduction</a:t>
            </a:r>
            <a:endParaRPr lang="en-US" sz="4800" b="1" dirty="0"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289" y="4648200"/>
            <a:ext cx="10632593" cy="57569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66799" y="690692"/>
            <a:ext cx="31165799" cy="2870885"/>
          </a:xfrm>
          <a:prstGeom prst="rect">
            <a:avLst/>
          </a:prstGeom>
          <a:solidFill>
            <a:schemeClr val="bg1"/>
          </a:solidFill>
        </p:spPr>
        <p:txBody>
          <a:bodyPr wrap="square" lIns="69440" tIns="34720" rIns="69440" bIns="34720" rtlCol="0">
            <a:spAutoFit/>
          </a:bodyPr>
          <a:lstStyle/>
          <a:p>
            <a:pPr algn="ctr"/>
            <a:r>
              <a:rPr lang="en-US" sz="4000" b="1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 &amp; Computer Vision Based Smart stick for visually impaired persons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 smtClean="0">
                <a:cs typeface="Times New Roman" panose="02020603050405020304" pitchFamily="18" charset="0"/>
              </a:rPr>
              <a:t>Muhammad Amir Mushtaq(F22BINCE1M02019), Shanza Shafiq(F22BINCE1M02017)</a:t>
            </a:r>
            <a:endParaRPr lang="en-US" sz="3600" dirty="0">
              <a:cs typeface="Times New Roman" panose="02020603050405020304" pitchFamily="18" charset="0"/>
            </a:endParaRPr>
          </a:p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mamirobotics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shanzashafiq53}@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gmail.com</a:t>
            </a:r>
          </a:p>
          <a:p>
            <a:pPr algn="ctr"/>
            <a:endParaRPr lang="en-US" sz="1200" b="1" dirty="0">
              <a:latin typeface="Arial" pitchFamily="34" charset="0"/>
              <a:ea typeface="+mj-ea"/>
              <a:cs typeface="Arial" pitchFamily="34" charset="0"/>
            </a:endParaRPr>
          </a:p>
          <a:p>
            <a:pPr algn="ctr"/>
            <a:r>
              <a:rPr lang="en-US" sz="2800" b="1" dirty="0">
                <a:latin typeface="Arial" pitchFamily="34" charset="0"/>
                <a:ea typeface="+mj-ea"/>
                <a:cs typeface="Arial" pitchFamily="34" charset="0"/>
              </a:rPr>
              <a:t>DEPARTMENT OF </a:t>
            </a:r>
            <a:r>
              <a:rPr lang="en-US" sz="2800" b="1" dirty="0" smtClean="0">
                <a:latin typeface="Arial" pitchFamily="34" charset="0"/>
                <a:ea typeface="+mj-ea"/>
                <a:cs typeface="Arial" pitchFamily="34" charset="0"/>
              </a:rPr>
              <a:t>INFORMATION AND COMMUNICATION </a:t>
            </a:r>
            <a:r>
              <a:rPr lang="en-US" sz="2800" b="1" dirty="0">
                <a:latin typeface="Arial" pitchFamily="34" charset="0"/>
                <a:ea typeface="+mj-ea"/>
                <a:cs typeface="Arial" pitchFamily="34" charset="0"/>
              </a:rPr>
              <a:t>ENGINEERING</a:t>
            </a:r>
          </a:p>
          <a:p>
            <a:pPr algn="ctr"/>
            <a:r>
              <a:rPr lang="en-US" sz="30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The Islamia University of Bahawalpur, Pakistan</a:t>
            </a:r>
            <a:endParaRPr lang="ar-SA" sz="3000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8" name="Title 1"/>
          <p:cNvSpPr>
            <a:spLocks noGrp="1"/>
          </p:cNvSpPr>
          <p:nvPr/>
        </p:nvSpPr>
        <p:spPr>
          <a:xfrm>
            <a:off x="11174369" y="4035594"/>
            <a:ext cx="11380831" cy="89891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Systematic  Diagram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72847" y="4956377"/>
            <a:ext cx="11382353" cy="1645582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2829359" y="9320789"/>
            <a:ext cx="9868094" cy="6993119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Title 1"/>
          <p:cNvSpPr>
            <a:spLocks noGrp="1"/>
          </p:cNvSpPr>
          <p:nvPr/>
        </p:nvSpPr>
        <p:spPr>
          <a:xfrm>
            <a:off x="22783800" y="4035594"/>
            <a:ext cx="9884304" cy="84458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Experimental Results and Discussion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2783800" y="4876801"/>
            <a:ext cx="9884304" cy="32339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22817164" y="8467942"/>
            <a:ext cx="9884305" cy="9190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  <a:tint val="66000"/>
                  <a:satMod val="160000"/>
                </a:schemeClr>
              </a:gs>
              <a:gs pos="50000">
                <a:schemeClr val="accent2">
                  <a:lumMod val="50000"/>
                  <a:tint val="44500"/>
                  <a:satMod val="160000"/>
                </a:schemeClr>
              </a:gs>
              <a:gs pos="100000">
                <a:schemeClr val="accent2">
                  <a:lumMod val="50000"/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Conclusion and Perspectives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78738710"/>
              </p:ext>
            </p:extLst>
          </p:nvPr>
        </p:nvGraphicFramePr>
        <p:xfrm>
          <a:off x="11887200" y="17497189"/>
          <a:ext cx="10058400" cy="35219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620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573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Cost in (PKR)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ESP32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cam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1550/-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F Mini Player , 2w Mini Speaker, Memory Card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1500/-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TP4650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Charging Module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300/-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Cell(Power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bank), Cell case, Stick, etc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1550/-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Ultrasonic sensor,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Buzzer, PVC pipe, box, Poster, Thesis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2000/-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2400" b="1" baseline="30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6900/-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1361911" y="17261399"/>
            <a:ext cx="10871208" cy="399350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402996" y="8354683"/>
            <a:ext cx="10219535" cy="18753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5"/>
          <p:cNvSpPr txBox="1"/>
          <p:nvPr/>
        </p:nvSpPr>
        <p:spPr>
          <a:xfrm>
            <a:off x="402996" y="7760560"/>
            <a:ext cx="425689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Project Objectives</a:t>
            </a:r>
          </a:p>
        </p:txBody>
      </p:sp>
      <p:sp>
        <p:nvSpPr>
          <p:cNvPr id="69" name="TextBox 5"/>
          <p:cNvSpPr txBox="1"/>
          <p:nvPr/>
        </p:nvSpPr>
        <p:spPr>
          <a:xfrm>
            <a:off x="547173" y="8519769"/>
            <a:ext cx="102195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Real-time object detection using live camera feedback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Identification of common obstacles (person, car, chair, stairs)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Audio-based feedback for user awareness</a:t>
            </a: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latin typeface="+mn-lt"/>
            </a:endParaRPr>
          </a:p>
        </p:txBody>
      </p:sp>
      <p:sp>
        <p:nvSpPr>
          <p:cNvPr id="78" name="TextBox 5"/>
          <p:cNvSpPr txBox="1"/>
          <p:nvPr/>
        </p:nvSpPr>
        <p:spPr>
          <a:xfrm>
            <a:off x="282305" y="21508790"/>
            <a:ext cx="18048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r>
              <a:rPr lang="en-US" sz="2000" i="1" dirty="0">
                <a:solidFill>
                  <a:srgbClr val="FFFEE8"/>
                </a:solidFill>
                <a:latin typeface="+mn-lt"/>
              </a:rPr>
              <a:t>Final Year Project </a:t>
            </a:r>
            <a:r>
              <a:rPr lang="en-US" sz="2000" i="1" dirty="0" smtClean="0">
                <a:solidFill>
                  <a:srgbClr val="FFFEE8"/>
                </a:solidFill>
                <a:latin typeface="+mn-lt"/>
              </a:rPr>
              <a:t>,  21 January 2026, </a:t>
            </a:r>
            <a:r>
              <a:rPr lang="en-US" sz="2000" i="1" dirty="0">
                <a:solidFill>
                  <a:srgbClr val="FFFEE8"/>
                </a:solidFill>
                <a:latin typeface="+mn-lt"/>
              </a:rPr>
              <a:t>Faculty of Engineering, The Islamia University of Bahawalpur, Pakistan. </a:t>
            </a:r>
          </a:p>
        </p:txBody>
      </p:sp>
      <p:sp>
        <p:nvSpPr>
          <p:cNvPr id="64" name="TextBox 5"/>
          <p:cNvSpPr txBox="1"/>
          <p:nvPr/>
        </p:nvSpPr>
        <p:spPr>
          <a:xfrm>
            <a:off x="11359942" y="16706149"/>
            <a:ext cx="2675447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Project Cost 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726132" y="19202400"/>
            <a:ext cx="9941972" cy="22097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Rectangle 130"/>
          <p:cNvSpPr/>
          <p:nvPr/>
        </p:nvSpPr>
        <p:spPr>
          <a:xfrm>
            <a:off x="11469496" y="5187468"/>
            <a:ext cx="1708030" cy="4150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2065624" y="6756177"/>
            <a:ext cx="1969765" cy="281481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21" name="Picture 2" descr="Logo&#10;&#10;Description automatically generated">
            <a:extLst>
              <a:ext uri="{FF2B5EF4-FFF2-40B4-BE49-F238E27FC236}">
                <a16:creationId xmlns:a16="http://schemas.microsoft.com/office/drawing/2014/main" xmlns="" id="{0408D38C-DE3F-40EE-BD88-A5B2567D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1" y="685800"/>
            <a:ext cx="2828936" cy="2971800"/>
          </a:xfrm>
          <a:prstGeom prst="rect">
            <a:avLst/>
          </a:prstGeom>
          <a:noFill/>
        </p:spPr>
      </p:pic>
      <p:sp>
        <p:nvSpPr>
          <p:cNvPr id="125" name="TextBox 5">
            <a:extLst>
              <a:ext uri="{FF2B5EF4-FFF2-40B4-BE49-F238E27FC236}">
                <a16:creationId xmlns:a16="http://schemas.microsoft.com/office/drawing/2014/main" xmlns="" id="{DC7F8C09-A71E-4B57-BA59-CA2E14FAC167}"/>
              </a:ext>
            </a:extLst>
          </p:cNvPr>
          <p:cNvSpPr txBox="1"/>
          <p:nvPr/>
        </p:nvSpPr>
        <p:spPr>
          <a:xfrm>
            <a:off x="23164800" y="19354800"/>
            <a:ext cx="95179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+mn-lt"/>
              </a:rPr>
              <a:t>Supervisor: </a:t>
            </a:r>
          </a:p>
          <a:p>
            <a:pPr algn="ctr"/>
            <a:r>
              <a:rPr lang="en-US" sz="2800" dirty="0" smtClean="0">
                <a:latin typeface="+mn-lt"/>
              </a:rPr>
              <a:t>Dr. Abdul Aziz (</a:t>
            </a:r>
            <a:r>
              <a:rPr lang="en-US" sz="2800" i="1" dirty="0" smtClean="0">
                <a:latin typeface="+mn-lt"/>
              </a:rPr>
              <a:t>Associate Professor</a:t>
            </a:r>
            <a:r>
              <a:rPr lang="en-US" sz="2800" dirty="0" smtClean="0">
                <a:latin typeface="+mn-lt"/>
              </a:rPr>
              <a:t>)</a:t>
            </a:r>
            <a:endParaRPr lang="en-US" sz="2800" dirty="0">
              <a:latin typeface="+mn-lt"/>
            </a:endParaRPr>
          </a:p>
          <a:p>
            <a:pPr algn="ctr"/>
            <a:r>
              <a:rPr lang="en-US" sz="2800" dirty="0" smtClean="0">
                <a:latin typeface="+mn-lt"/>
              </a:rPr>
              <a:t>Department of Information &amp; Communication Engineering</a:t>
            </a:r>
          </a:p>
          <a:p>
            <a:pPr algn="ctr"/>
            <a:r>
              <a:rPr lang="en-US" sz="2800" dirty="0" smtClean="0">
                <a:latin typeface="+mn-lt"/>
              </a:rPr>
              <a:t>Email: abdul.aziz@iub.edu.pk</a:t>
            </a:r>
            <a:endParaRPr lang="en-US" sz="2800" dirty="0">
              <a:latin typeface="+mn-lt"/>
            </a:endParaRPr>
          </a:p>
          <a:p>
            <a:pPr algn="ctr"/>
            <a:endParaRPr lang="en-US" sz="2800" b="1" dirty="0">
              <a:latin typeface="+mn-lt"/>
            </a:endParaRPr>
          </a:p>
          <a:p>
            <a:pPr algn="ctr"/>
            <a:endParaRPr lang="en-US" sz="4000" b="1" dirty="0">
              <a:latin typeface="+mn-lt"/>
            </a:endParaRPr>
          </a:p>
        </p:txBody>
      </p:sp>
      <p:sp>
        <p:nvSpPr>
          <p:cNvPr id="164" name="Title 1">
            <a:extLst>
              <a:ext uri="{FF2B5EF4-FFF2-40B4-BE49-F238E27FC236}">
                <a16:creationId xmlns:a16="http://schemas.microsoft.com/office/drawing/2014/main" xmlns="" id="{7C5F721C-344E-42FF-925F-A10C5EA4BA3A}"/>
              </a:ext>
            </a:extLst>
          </p:cNvPr>
          <p:cNvSpPr>
            <a:spLocks noGrp="1"/>
          </p:cNvSpPr>
          <p:nvPr/>
        </p:nvSpPr>
        <p:spPr>
          <a:xfrm>
            <a:off x="250296" y="10674618"/>
            <a:ext cx="10640947" cy="89891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xmlns="" id="{41E241A3-0D0D-41E4-9BAE-CD873BEF95B0}"/>
              </a:ext>
            </a:extLst>
          </p:cNvPr>
          <p:cNvSpPr/>
          <p:nvPr/>
        </p:nvSpPr>
        <p:spPr>
          <a:xfrm>
            <a:off x="250296" y="11540434"/>
            <a:ext cx="10635032" cy="987176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F1DE"/>
              </a:solidFill>
            </a:endParaRPr>
          </a:p>
        </p:txBody>
      </p:sp>
      <p:sp>
        <p:nvSpPr>
          <p:cNvPr id="171" name="TextBox 5">
            <a:extLst>
              <a:ext uri="{FF2B5EF4-FFF2-40B4-BE49-F238E27FC236}">
                <a16:creationId xmlns:a16="http://schemas.microsoft.com/office/drawing/2014/main" xmlns="" id="{65F3BB8E-4A8D-433C-A8A6-5D751D992EDA}"/>
              </a:ext>
            </a:extLst>
          </p:cNvPr>
          <p:cNvSpPr txBox="1"/>
          <p:nvPr/>
        </p:nvSpPr>
        <p:spPr>
          <a:xfrm>
            <a:off x="23125672" y="10184982"/>
            <a:ext cx="92589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The proposed smart stick provides real-time environmental awareness for visually impaired users.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Computer vision enables accurate detection and classification of surrounding objects.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Audio feedback allows users to respond safely to detected obstacles.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The system is portable and operates using low-cost hardware components.</a:t>
            </a:r>
          </a:p>
          <a:p>
            <a:pPr marL="457200" indent="-457200" algn="just"/>
            <a:endParaRPr lang="en-US" sz="2800" b="1" dirty="0">
              <a:latin typeface="+mn-lt"/>
            </a:endParaRPr>
          </a:p>
        </p:txBody>
      </p:sp>
      <p:sp>
        <p:nvSpPr>
          <p:cNvPr id="175" name="TextBox 5">
            <a:extLst>
              <a:ext uri="{FF2B5EF4-FFF2-40B4-BE49-F238E27FC236}">
                <a16:creationId xmlns:a16="http://schemas.microsoft.com/office/drawing/2014/main" xmlns="" id="{334DAAA1-F3E5-45FA-A31D-4261EA190846}"/>
              </a:ext>
            </a:extLst>
          </p:cNvPr>
          <p:cNvSpPr txBox="1"/>
          <p:nvPr/>
        </p:nvSpPr>
        <p:spPr>
          <a:xfrm>
            <a:off x="22981179" y="5002057"/>
            <a:ext cx="94209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r>
              <a:rPr lang="en-US" sz="2800" b="1" dirty="0" smtClean="0">
                <a:latin typeface="+mj-lt"/>
              </a:rPr>
              <a:t>The system accurately detects common objects with different datasets such as:</a:t>
            </a:r>
          </a:p>
          <a:p>
            <a:r>
              <a:rPr lang="en-US" sz="2800" b="1" dirty="0" smtClean="0">
                <a:latin typeface="+mj-lt"/>
              </a:rPr>
              <a:t>1.Persons</a:t>
            </a:r>
          </a:p>
          <a:p>
            <a:r>
              <a:rPr lang="en-US" sz="2800" b="1" dirty="0" smtClean="0">
                <a:latin typeface="+mj-lt"/>
              </a:rPr>
              <a:t>2.Vehicles</a:t>
            </a:r>
          </a:p>
          <a:p>
            <a:r>
              <a:rPr lang="en-US" sz="2800" b="1" dirty="0" smtClean="0">
                <a:latin typeface="+mj-lt"/>
              </a:rPr>
              <a:t>3.Chairs</a:t>
            </a:r>
          </a:p>
          <a:p>
            <a:r>
              <a:rPr lang="en-US" sz="2800" b="1" dirty="0" smtClean="0">
                <a:latin typeface="+mj-lt"/>
              </a:rPr>
              <a:t>4.Laptop etc</a:t>
            </a:r>
          </a:p>
          <a:p>
            <a:r>
              <a:rPr lang="en-US" sz="2800" b="1" dirty="0" smtClean="0">
                <a:latin typeface="+mj-lt"/>
              </a:rPr>
              <a:t>Audio feedback is generated in real time with minimal delay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6" name="Title 1">
            <a:extLst>
              <a:ext uri="{FF2B5EF4-FFF2-40B4-BE49-F238E27FC236}">
                <a16:creationId xmlns:a16="http://schemas.microsoft.com/office/drawing/2014/main" xmlns="" id="{20D55414-2879-45B4-BA46-2798D6EA3B54}"/>
              </a:ext>
            </a:extLst>
          </p:cNvPr>
          <p:cNvSpPr>
            <a:spLocks noGrp="1"/>
          </p:cNvSpPr>
          <p:nvPr/>
        </p:nvSpPr>
        <p:spPr>
          <a:xfrm>
            <a:off x="22715252" y="16464137"/>
            <a:ext cx="9982200" cy="919015"/>
          </a:xfrm>
          <a:prstGeom prst="rect">
            <a:avLst/>
          </a:prstGeom>
          <a:solidFill>
            <a:srgbClr val="FFFEE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Acknowledgement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xmlns="" id="{B6922B45-3625-4FA5-BAE8-1EE72359905F}"/>
              </a:ext>
            </a:extLst>
          </p:cNvPr>
          <p:cNvSpPr/>
          <p:nvPr/>
        </p:nvSpPr>
        <p:spPr>
          <a:xfrm>
            <a:off x="22715252" y="17369010"/>
            <a:ext cx="10203148" cy="1680990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TextBox 5">
            <a:extLst>
              <a:ext uri="{FF2B5EF4-FFF2-40B4-BE49-F238E27FC236}">
                <a16:creationId xmlns:a16="http://schemas.microsoft.com/office/drawing/2014/main" xmlns="" id="{414553B1-08D9-45BB-AF06-83716CA3A35B}"/>
              </a:ext>
            </a:extLst>
          </p:cNvPr>
          <p:cNvSpPr txBox="1"/>
          <p:nvPr/>
        </p:nvSpPr>
        <p:spPr>
          <a:xfrm>
            <a:off x="22873319" y="17497189"/>
            <a:ext cx="90544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algn="just"/>
            <a:r>
              <a:rPr lang="en-US" sz="2400" b="1" dirty="0" smtClean="0">
                <a:latin typeface="+mn-lt"/>
              </a:rPr>
              <a:t>We sincerely thank our project supervisor for their valuable guidance and support throughout this project. We also acknowledge our department and institution for providing the necessary resources and facilities.</a:t>
            </a:r>
            <a:endParaRPr lang="en-US" sz="2400" b="1" dirty="0">
              <a:latin typeface="+mn-lt"/>
            </a:endParaRPr>
          </a:p>
        </p:txBody>
      </p:sp>
      <p:sp>
        <p:nvSpPr>
          <p:cNvPr id="180" name="TextBox 5">
            <a:extLst>
              <a:ext uri="{FF2B5EF4-FFF2-40B4-BE49-F238E27FC236}">
                <a16:creationId xmlns:a16="http://schemas.microsoft.com/office/drawing/2014/main" xmlns="" id="{06CB0471-856E-4E51-B07B-FDB27DA31F0C}"/>
              </a:ext>
            </a:extLst>
          </p:cNvPr>
          <p:cNvSpPr txBox="1"/>
          <p:nvPr/>
        </p:nvSpPr>
        <p:spPr>
          <a:xfrm>
            <a:off x="22963588" y="9543508"/>
            <a:ext cx="425689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xmlns="" id="{F2E0F94B-6116-4C01-B3D3-B60FF5AF35A3}"/>
              </a:ext>
            </a:extLst>
          </p:cNvPr>
          <p:cNvSpPr/>
          <p:nvPr/>
        </p:nvSpPr>
        <p:spPr>
          <a:xfrm>
            <a:off x="22984213" y="10106525"/>
            <a:ext cx="9521807" cy="34810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TextBox 5">
            <a:extLst>
              <a:ext uri="{FF2B5EF4-FFF2-40B4-BE49-F238E27FC236}">
                <a16:creationId xmlns:a16="http://schemas.microsoft.com/office/drawing/2014/main" xmlns="" id="{BDF43BB4-D081-4C46-A256-BA6079B28F23}"/>
              </a:ext>
            </a:extLst>
          </p:cNvPr>
          <p:cNvSpPr txBox="1"/>
          <p:nvPr/>
        </p:nvSpPr>
        <p:spPr>
          <a:xfrm>
            <a:off x="22963587" y="13713113"/>
            <a:ext cx="425689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Future Direction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xmlns="" id="{2C5F6187-5A8A-4E15-9B49-143C229F5AB9}"/>
              </a:ext>
            </a:extLst>
          </p:cNvPr>
          <p:cNvSpPr/>
          <p:nvPr/>
        </p:nvSpPr>
        <p:spPr>
          <a:xfrm>
            <a:off x="22984213" y="14271696"/>
            <a:ext cx="9501181" cy="193587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TextBox 5">
            <a:extLst>
              <a:ext uri="{FF2B5EF4-FFF2-40B4-BE49-F238E27FC236}">
                <a16:creationId xmlns:a16="http://schemas.microsoft.com/office/drawing/2014/main" xmlns="" id="{223E1CD1-2117-44BA-9733-E5A4EDB88871}"/>
              </a:ext>
            </a:extLst>
          </p:cNvPr>
          <p:cNvSpPr txBox="1"/>
          <p:nvPr/>
        </p:nvSpPr>
        <p:spPr>
          <a:xfrm>
            <a:off x="23096496" y="14263334"/>
            <a:ext cx="92589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On-device AI inference will use Raspberry Pi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Distance estimation for obstacles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GPS-based navigation support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Smartphone application integration</a:t>
            </a:r>
          </a:p>
          <a:p>
            <a:pPr marL="457200" indent="-457200" algn="just">
              <a:buFont typeface="+mj-lt"/>
              <a:buAutoNum type="alphaUcPeriod"/>
            </a:pPr>
            <a:endParaRPr lang="en-US" sz="2800" b="1" dirty="0">
              <a:latin typeface="+mn-l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8200" y="4724400"/>
            <a:ext cx="9296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For visually impaired individuals require assistive technologies to safely navigate their surroundings. This project proposes an </a:t>
            </a:r>
            <a:r>
              <a:rPr lang="en-US" sz="2800" b="1" dirty="0" err="1" smtClean="0"/>
              <a:t>IoT</a:t>
            </a:r>
            <a:r>
              <a:rPr lang="en-US" sz="2800" b="1" dirty="0" smtClean="0"/>
              <a:t>, and Computer Vision based Smart Stick that detects nearby objects using live video and provides real-time audio feedback. The system uses an ESP32-CAM for image acquisition and a Python-based computer vision server for object recognition.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11887200"/>
            <a:ext cx="4343400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ESP32-CAM captures live video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Video stream is sent wirelessly to PC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Python processes frames using computer vision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Objects are detected and classified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Send feedback to ESP32 it send to the DF Mini Player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DF Mini Player plays corresponding voice feedback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Go to the next iteration</a:t>
            </a:r>
          </a:p>
          <a:p>
            <a:pPr marL="514350" indent="-514350"/>
            <a:r>
              <a:rPr lang="en-US" sz="2800" b="1" dirty="0" smtClean="0"/>
              <a:t>(Loop)</a:t>
            </a:r>
          </a:p>
          <a:p>
            <a:pPr marL="514350" indent="-514350">
              <a:buFont typeface="+mj-lt"/>
              <a:buAutoNum type="arabicPeriod"/>
            </a:pPr>
            <a:endParaRPr lang="en-US" sz="3200" b="1" dirty="0"/>
          </a:p>
        </p:txBody>
      </p:sp>
      <p:sp>
        <p:nvSpPr>
          <p:cNvPr id="42" name="Rounded Rectangle 41"/>
          <p:cNvSpPr/>
          <p:nvPr/>
        </p:nvSpPr>
        <p:spPr>
          <a:xfrm>
            <a:off x="6400800" y="11734800"/>
            <a:ext cx="1981200" cy="1066800"/>
          </a:xfrm>
          <a:prstGeom prst="roundRect">
            <a:avLst/>
          </a:prstGeom>
          <a:solidFill>
            <a:srgbClr val="EBF1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Initialize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324600" y="13335000"/>
            <a:ext cx="1676400" cy="1219200"/>
          </a:xfrm>
          <a:prstGeom prst="roundRect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ESP32-CAM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162800" y="15468600"/>
            <a:ext cx="2590800" cy="1371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Laptop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(Processing)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267200" y="16840200"/>
            <a:ext cx="2590800" cy="1066800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Classification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562600" y="18135600"/>
            <a:ext cx="2819400" cy="16002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Audio Feedback to esp32 </a:t>
            </a:r>
            <a:endParaRPr lang="en-US" dirty="0"/>
          </a:p>
        </p:txBody>
      </p:sp>
      <p:sp>
        <p:nvSpPr>
          <p:cNvPr id="48" name="Down Arrow 47"/>
          <p:cNvSpPr/>
          <p:nvPr/>
        </p:nvSpPr>
        <p:spPr>
          <a:xfrm>
            <a:off x="6934200" y="12801600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4419600" y="11811000"/>
            <a:ext cx="1447800" cy="762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Power</a:t>
            </a:r>
            <a:endParaRPr lang="en-US" dirty="0"/>
          </a:p>
        </p:txBody>
      </p:sp>
      <p:sp>
        <p:nvSpPr>
          <p:cNvPr id="57" name="Curved Right Arrow 56"/>
          <p:cNvSpPr/>
          <p:nvPr/>
        </p:nvSpPr>
        <p:spPr>
          <a:xfrm>
            <a:off x="6324600" y="14859000"/>
            <a:ext cx="685800" cy="11430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Left Arrow 58"/>
          <p:cNvSpPr/>
          <p:nvPr/>
        </p:nvSpPr>
        <p:spPr>
          <a:xfrm>
            <a:off x="8534400" y="12039600"/>
            <a:ext cx="838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59"/>
          <p:cNvSpPr/>
          <p:nvPr/>
        </p:nvSpPr>
        <p:spPr>
          <a:xfrm>
            <a:off x="5943600" y="121158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Left-Up Arrow 61"/>
          <p:cNvSpPr/>
          <p:nvPr/>
        </p:nvSpPr>
        <p:spPr>
          <a:xfrm>
            <a:off x="6934200" y="16687800"/>
            <a:ext cx="1371600" cy="914400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Snip Same Side Corner Rectangle 62"/>
          <p:cNvSpPr/>
          <p:nvPr/>
        </p:nvSpPr>
        <p:spPr>
          <a:xfrm>
            <a:off x="9067800" y="17221200"/>
            <a:ext cx="1600200" cy="914400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DF Player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Curved Up Arrow 64"/>
          <p:cNvSpPr/>
          <p:nvPr/>
        </p:nvSpPr>
        <p:spPr>
          <a:xfrm>
            <a:off x="8458200" y="18592800"/>
            <a:ext cx="1219200" cy="685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Down Arrow 65"/>
          <p:cNvSpPr/>
          <p:nvPr/>
        </p:nvSpPr>
        <p:spPr>
          <a:xfrm>
            <a:off x="9829800" y="18211800"/>
            <a:ext cx="304800" cy="1066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8991600" y="19583400"/>
            <a:ext cx="1981200" cy="13716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Sound</a:t>
            </a:r>
            <a:endParaRPr lang="en-US" dirty="0"/>
          </a:p>
        </p:txBody>
      </p:sp>
      <p:sp>
        <p:nvSpPr>
          <p:cNvPr id="71" name="Rounded Rectangle 70"/>
          <p:cNvSpPr/>
          <p:nvPr/>
        </p:nvSpPr>
        <p:spPr>
          <a:xfrm>
            <a:off x="9525000" y="11963400"/>
            <a:ext cx="1219200" cy="457200"/>
          </a:xfrm>
          <a:prstGeom prst="roundRect">
            <a:avLst/>
          </a:prstGeom>
          <a:solidFill>
            <a:srgbClr val="F796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HTTP</a:t>
            </a:r>
            <a:endParaRPr lang="en-US" dirty="0"/>
          </a:p>
        </p:txBody>
      </p:sp>
      <p:sp>
        <p:nvSpPr>
          <p:cNvPr id="72" name="Curved Right Arrow 71"/>
          <p:cNvSpPr/>
          <p:nvPr/>
        </p:nvSpPr>
        <p:spPr>
          <a:xfrm>
            <a:off x="4572000" y="17907000"/>
            <a:ext cx="685800" cy="11430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353800" y="5715000"/>
            <a:ext cx="11111698" cy="102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0602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5336</TotalTime>
  <Words>425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M Amir Mushtaq</cp:lastModifiedBy>
  <cp:revision>347</cp:revision>
  <cp:lastPrinted>2013-09-30T18:13:59Z</cp:lastPrinted>
  <dcterms:created xsi:type="dcterms:W3CDTF">2013-09-30T17:56:14Z</dcterms:created>
  <dcterms:modified xsi:type="dcterms:W3CDTF">2026-05-02T09:26:15Z</dcterms:modified>
</cp:coreProperties>
</file>